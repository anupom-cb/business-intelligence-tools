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scenario: management sees rising sales but profit not growing as expected. Our task: find out where profit is made and lost, and recommend corrective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Pages used: Executive Dashboard, Business Scorecard, Business Analysis and the new Advanced Analytics page in the Power BI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Steps 2-4: region, category and segment analysis. Three regions lose money: Western Asia, Western Africa and Central Asia (-$111.6K combined).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root cause. Lines with no discount earn $1.77M profit at 25% margin; lines discounted over 20% generate $1.93M sales and an $815K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 least two strengths, two weaknesses and two opportunities, each supported by evidence from the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Justify every recommendation with the evidence column. Even capturing half of the discount loss adds about $0.4M (+28%) profit.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restating the one-line message and asking for approval of the discount policy as the first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46120"/>
            <a:ext cx="1097280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FD3E6"/>
                </a:solidFill>
                <a:latin typeface="Calibri"/>
              </a:rPr>
              <a:t>EXPERIMENT 7  ·  BUSINESS INTELLIGENCE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Why is profit lagging sales?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DDE8F3"/>
                </a:solidFill>
                <a:latin typeface="Calibri"/>
              </a:rPr>
              <a:t>Advanced-analytics review of Global Superstore using Power BI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DDE8F3"/>
                </a:solidFill>
                <a:latin typeface="Calibri"/>
              </a:rPr>
              <a:t>Sales have doubled since 2014 – but the margin is stuck at ~11.7%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FD3E6"/>
                </a:solidFill>
                <a:latin typeface="Calibri"/>
              </a:rPr>
              <a:t>Business Intelligence Consultant · Data: 51,290 order lines · 2014–2017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A3A"/>
                </a:solidFill>
                <a:latin typeface="Calibri"/>
              </a:rPr>
              <a:t>Dashboard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F6B7A"/>
                </a:solidFill>
                <a:latin typeface="Calibri"/>
              </a:rPr>
              <a:t>Sales almost doubled; profit grew with it, but margin has plateaued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7A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7A"/>
                </a:solidFill>
                <a:latin typeface="Calibri"/>
              </a:rPr>
              <a:t>Global Superstore · Business Insight Review · Exp. 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645920" cy="105156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64008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36192"/>
            <a:ext cx="137160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F4E79"/>
                </a:solidFill>
                <a:latin typeface="Calibri"/>
              </a:rPr>
              <a:t>$12.64M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21408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A"/>
                </a:solidFill>
                <a:latin typeface="Calibri"/>
              </a:rPr>
              <a:t>Total Sales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1463040"/>
            <a:ext cx="1645920" cy="105156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31720" y="1463040"/>
            <a:ext cx="64008" cy="10515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1536192"/>
            <a:ext cx="137160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A9D8F"/>
                </a:solidFill>
                <a:latin typeface="Calibri"/>
              </a:rPr>
              <a:t>$1.47M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121408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A"/>
                </a:solidFill>
                <a:latin typeface="Calibri"/>
              </a:rPr>
              <a:t>Total Profit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1463040"/>
            <a:ext cx="1645920" cy="105156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0" y="1463040"/>
            <a:ext cx="64008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536192"/>
            <a:ext cx="137160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F4E79"/>
                </a:solidFill>
                <a:latin typeface="Calibri"/>
              </a:rPr>
              <a:t>25,728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121408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A"/>
                </a:solidFill>
                <a:latin typeface="Calibri"/>
              </a:rPr>
              <a:t>Total Orders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97879" y="1463040"/>
            <a:ext cx="1645920" cy="105156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97879" y="1463040"/>
            <a:ext cx="64008" cy="10515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59" y="1536192"/>
            <a:ext cx="137160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A9D8F"/>
                </a:solidFill>
                <a:latin typeface="Calibri"/>
              </a:rPr>
              <a:t>11.6%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59" y="2121408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A"/>
                </a:solidFill>
                <a:latin typeface="Calibri"/>
              </a:rPr>
              <a:t>Profit Margin</a:t>
            </a:r>
          </a:p>
        </p:txBody>
      </p:sp>
      <p:pic>
        <p:nvPicPr>
          <p:cNvPr id="23" name="Picture 22" descr="c_year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0"/>
            <a:ext cx="6949440" cy="369189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863840" y="1463040"/>
            <a:ext cx="3840480" cy="4572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1">
                <a:solidFill>
                  <a:srgbClr val="1B2A3A"/>
                </a:solidFill>
                <a:latin typeface="Calibri"/>
              </a:rPr>
              <a:t>What the dashboard shows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• Sales +90% (2014→2017), 24% a year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• Profit +103%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• Margin 11.0% → 11.9% (2016) → 11.7% (2017)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• In 2017 profit growth (+23.9%) fell behind sales growth (+26.3%)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• Sep–Dec = 45% of annual sales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1B2A3A"/>
                </a:solidFill>
                <a:latin typeface="Calibri"/>
              </a:rPr>
              <a:t>Growth is coming from volume, not from better profitability.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A3A"/>
                </a:solidFill>
                <a:latin typeface="Calibri"/>
              </a:rPr>
              <a:t>Key findings: where profit is made and lost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F6B7A"/>
                </a:solidFill>
                <a:latin typeface="Calibri"/>
              </a:rPr>
              <a:t>Region and category performance (all years)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7A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7A"/>
                </a:solidFill>
                <a:latin typeface="Calibri"/>
              </a:rPr>
              <a:t>Global Superstore · Business Insight Review · Exp. 7</a:t>
            </a:r>
          </a:p>
        </p:txBody>
      </p:sp>
      <p:pic>
        <p:nvPicPr>
          <p:cNvPr id="7" name="Picture 6" descr="c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643154" cy="4937760"/>
          </a:xfrm>
          <a:prstGeom prst="rect">
            <a:avLst/>
          </a:prstGeom>
        </p:spPr>
      </p:pic>
      <p:pic>
        <p:nvPicPr>
          <p:cNvPr id="8" name="Picture 7" descr="c_categ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371600"/>
            <a:ext cx="6035040" cy="28289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52160" y="4343400"/>
            <a:ext cx="585216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B2A3A"/>
                </a:solidFill>
                <a:latin typeface="Calibri"/>
              </a:rPr>
              <a:t>Best region: </a:t>
            </a:r>
            <a:r>
              <a:rPr sz="1500" b="0">
                <a:solidFill>
                  <a:srgbClr val="1B2A3A"/>
                </a:solidFill>
                <a:latin typeface="Calibri"/>
              </a:rPr>
              <a:t>Western Europe – $218K profit</a:t>
            </a:r>
          </a:p>
          <a:p>
            <a:pPr algn="l">
              <a:spcAft>
                <a:spcPts val="500"/>
              </a:spcAft>
            </a:pPr>
            <a:r>
              <a:rPr sz="1500" b="1">
                <a:solidFill>
                  <a:srgbClr val="1B2A3A"/>
                </a:solidFill>
                <a:latin typeface="Calibri"/>
              </a:rPr>
              <a:t>Worst region: </a:t>
            </a:r>
            <a:r>
              <a:rPr sz="1500" b="0">
                <a:solidFill>
                  <a:srgbClr val="1B2A3A"/>
                </a:solidFill>
                <a:latin typeface="Calibri"/>
              </a:rPr>
              <a:t>Western Asia – $54K loss</a:t>
            </a:r>
          </a:p>
          <a:p>
            <a:pPr algn="l">
              <a:spcAft>
                <a:spcPts val="500"/>
              </a:spcAft>
            </a:pPr>
            <a:r>
              <a:rPr sz="1500" b="1">
                <a:solidFill>
                  <a:srgbClr val="1B2A3A"/>
                </a:solidFill>
                <a:latin typeface="Calibri"/>
              </a:rPr>
              <a:t>Most profitable category: </a:t>
            </a:r>
            <a:r>
              <a:rPr sz="1500" b="0">
                <a:solidFill>
                  <a:srgbClr val="1B2A3A"/>
                </a:solidFill>
                <a:latin typeface="Calibri"/>
              </a:rPr>
              <a:t>Technology – $664K (14.0%)</a:t>
            </a:r>
          </a:p>
          <a:p>
            <a:pPr algn="l">
              <a:spcAft>
                <a:spcPts val="500"/>
              </a:spcAft>
            </a:pPr>
            <a:r>
              <a:rPr sz="1500" b="1">
                <a:solidFill>
                  <a:srgbClr val="1B2A3A"/>
                </a:solidFill>
                <a:latin typeface="Calibri"/>
              </a:rPr>
              <a:t>Least profitable: </a:t>
            </a:r>
            <a:r>
              <a:rPr sz="1500" b="0">
                <a:solidFill>
                  <a:srgbClr val="1B2A3A"/>
                </a:solidFill>
                <a:latin typeface="Calibri"/>
              </a:rPr>
              <a:t>Furniture – $285K (6.9%)</a:t>
            </a:r>
          </a:p>
          <a:p>
            <a:pPr algn="l">
              <a:spcAft>
                <a:spcPts val="500"/>
              </a:spcAft>
            </a:pPr>
            <a:r>
              <a:rPr sz="1500" b="1">
                <a:solidFill>
                  <a:srgbClr val="1B2A3A"/>
                </a:solidFill>
                <a:latin typeface="Calibri"/>
              </a:rPr>
              <a:t>Segments are not the issue: </a:t>
            </a:r>
            <a:r>
              <a:rPr sz="1500" b="0">
                <a:solidFill>
                  <a:srgbClr val="1B2A3A"/>
                </a:solidFill>
                <a:latin typeface="Calibri"/>
              </a:rPr>
              <a:t>margins 11.5–12.0% for all three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A3A"/>
                </a:solidFill>
                <a:latin typeface="Calibri"/>
              </a:rPr>
              <a:t>Business issue: discounts destroy profit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F6B7A"/>
                </a:solidFill>
                <a:latin typeface="Calibri"/>
              </a:rPr>
              <a:t>Margin falls as discount rises – above 20% every order band loses money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7A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7A"/>
                </a:solidFill>
                <a:latin typeface="Calibri"/>
              </a:rPr>
              <a:t>Global Superstore · Business Insight Review · Exp. 7</a:t>
            </a:r>
          </a:p>
        </p:txBody>
      </p:sp>
      <p:pic>
        <p:nvPicPr>
          <p:cNvPr id="7" name="Picture 6" descr="c_dis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766560" cy="33832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80960" y="1463040"/>
            <a:ext cx="3931920" cy="105156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80960" y="1463040"/>
            <a:ext cx="64008" cy="10515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1536192"/>
            <a:ext cx="365760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C62828"/>
                </a:solidFill>
                <a:latin typeface="Calibri"/>
              </a:rPr>
              <a:t>$815K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121408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A"/>
                </a:solidFill>
                <a:latin typeface="Calibri"/>
              </a:rPr>
              <a:t>lost on lines discounted &gt; 20%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2697480"/>
            <a:ext cx="3931920" cy="105156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80960" y="2697480"/>
            <a:ext cx="64008" cy="10515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770632"/>
            <a:ext cx="365760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A9D8F"/>
                </a:solidFill>
                <a:latin typeface="Calibri"/>
              </a:rPr>
              <a:t>25.3% vs 11.6%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355848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A"/>
                </a:solidFill>
                <a:latin typeface="Calibri"/>
              </a:rPr>
              <a:t>margin with no discount vs overall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023360"/>
            <a:ext cx="41148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1B2A3A"/>
                </a:solidFill>
                <a:latin typeface="Calibri"/>
              </a:rPr>
              <a:t>• 22% of order lines are discounted &gt; 20%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B2A3A"/>
                </a:solidFill>
                <a:latin typeface="Calibri"/>
              </a:rPr>
              <a:t>• Loss-making regions average 35–43% discount; best regions 5–9%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B2A3A"/>
                </a:solidFill>
                <a:latin typeface="Calibri"/>
              </a:rPr>
              <a:t>• Tables: −$64K at 29% average discount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B2A3A"/>
                </a:solidFill>
                <a:latin typeface="Calibri"/>
              </a:rPr>
              <a:t>• Average discount has stayed ~14% every year → margin stuck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A3A"/>
                </a:solidFill>
                <a:latin typeface="Calibri"/>
              </a:rPr>
              <a:t>Strengths, weaknesses and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7A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7A"/>
                </a:solidFill>
                <a:latin typeface="Calibri"/>
              </a:rPr>
              <a:t>Global Superstore · Business Insight Review · Exp. 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3566160" cy="5486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32918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Strengths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3566160" cy="443484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3291840" cy="4114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 b="0">
                <a:solidFill>
                  <a:srgbClr val="1B2A3A"/>
                </a:solidFill>
                <a:latin typeface="Calibri"/>
              </a:rPr>
              <a:t>• Consistent growth: +18%, +27%, +26% a year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1B2A3A"/>
                </a:solidFill>
                <a:latin typeface="Calibri"/>
              </a:rPr>
              <a:t>• Technology + Office Supplies = 81% of profit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1B2A3A"/>
                </a:solidFill>
                <a:latin typeface="Calibri"/>
              </a:rPr>
              <a:t>• Diversified customers: top 10 = 2.7% of sales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1B2A3A"/>
                </a:solidFill>
                <a:latin typeface="Calibri"/>
              </a:rPr>
              <a:t>• Europe margin 13.7% (best market)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1188720"/>
            <a:ext cx="3566160" cy="5486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234440"/>
            <a:ext cx="32918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Weaknesses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1737360"/>
            <a:ext cx="3566160" cy="443484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920240"/>
            <a:ext cx="3291840" cy="4114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 b="0">
                <a:solidFill>
                  <a:srgbClr val="1B2A3A"/>
                </a:solidFill>
                <a:latin typeface="Calibri"/>
              </a:rPr>
              <a:t>• Discount erosion: −$815K above 20%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1B2A3A"/>
                </a:solidFill>
                <a:latin typeface="Calibri"/>
              </a:rPr>
              <a:t>• 3 loss-making regions: −$112K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1B2A3A"/>
                </a:solidFill>
                <a:latin typeface="Calibri"/>
              </a:rPr>
              <a:t>• Furniture margin 6.9%; Tables lose money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1B2A3A"/>
                </a:solidFill>
                <a:latin typeface="Calibri"/>
              </a:rPr>
              <a:t>• 45% of sales in Sep–Dec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1188720"/>
            <a:ext cx="3566160" cy="548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234440"/>
            <a:ext cx="32918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Opportunities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1737360"/>
            <a:ext cx="3566160" cy="443484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1920240"/>
            <a:ext cx="3291840" cy="4114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 b="0">
                <a:solidFill>
                  <a:srgbClr val="1B2A3A"/>
                </a:solidFill>
                <a:latin typeface="Calibri"/>
              </a:rPr>
              <a:t>• Discount governance: up to +$815K (≈ +56%)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1B2A3A"/>
                </a:solidFill>
                <a:latin typeface="Calibri"/>
              </a:rPr>
              <a:t>• Grow high-margin regions: E. Asia 19.5%, S. Asia 18.4%, Canada 26.6%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1B2A3A"/>
                </a:solidFill>
                <a:latin typeface="Calibri"/>
              </a:rPr>
              <a:t>• Fix Furniture: ≈ +$0.28M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1B2A3A"/>
                </a:solidFill>
                <a:latin typeface="Calibri"/>
              </a:rPr>
              <a:t>• Plan Q4 stock &amp; promotions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A3A"/>
                </a:solidFill>
                <a:latin typeface="Calibri"/>
              </a:rP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F6B7A"/>
                </a:solidFill>
                <a:latin typeface="Calibri"/>
              </a:rPr>
              <a:t>Ranked by profit impact – each backed by 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7A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7A"/>
                </a:solidFill>
                <a:latin typeface="Calibri"/>
              </a:rPr>
              <a:t>Global Superstore · Business Insight Review · Exp.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37160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F6B7A"/>
                </a:solidFill>
                <a:latin typeface="Calibri"/>
              </a:rPr>
              <a:t>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371600"/>
            <a:ext cx="20116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F6B7A"/>
                </a:solidFill>
                <a:latin typeface="Calibri"/>
              </a:rPr>
              <a:t>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1371600"/>
            <a:ext cx="2743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F6B7A"/>
                </a:solidFill>
                <a:latin typeface="Calibri"/>
              </a:rPr>
              <a:t>Evidence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11064240" cy="804672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865376"/>
            <a:ext cx="548640" cy="54864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65376"/>
            <a:ext cx="5486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737360"/>
            <a:ext cx="566928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B2A3A"/>
                </a:solidFill>
                <a:latin typeface="Calibri"/>
              </a:rPr>
              <a:t>Discount policy: approval above 20%, hard cap 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737360"/>
            <a:ext cx="201168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Up to +$815K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1737360"/>
            <a:ext cx="2560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A"/>
                </a:solidFill>
                <a:latin typeface="Calibri"/>
              </a:rPr>
              <a:t>Lines &gt;20%: −$815K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633472"/>
            <a:ext cx="11064240" cy="804672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" y="2761488"/>
            <a:ext cx="548640" cy="54864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761488"/>
            <a:ext cx="5486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2633472"/>
            <a:ext cx="566928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B2A3A"/>
                </a:solidFill>
                <a:latin typeface="Calibri"/>
              </a:rPr>
              <a:t>Turn around Western Asia, Western Africa, Central Asia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633472"/>
            <a:ext cx="201168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+$112K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33472"/>
            <a:ext cx="2560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A"/>
                </a:solidFill>
                <a:latin typeface="Calibri"/>
              </a:rPr>
              <a:t>Combined loss −$111.6K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529584"/>
            <a:ext cx="11064240" cy="804672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3657600"/>
            <a:ext cx="548640" cy="54864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657600"/>
            <a:ext cx="5486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529584"/>
            <a:ext cx="566928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B2A3A"/>
                </a:solidFill>
                <a:latin typeface="Calibri"/>
              </a:rPr>
              <a:t>Re-price Furniture; stop discounting Tables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3529584"/>
            <a:ext cx="201168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+$0.06–0.28M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3529584"/>
            <a:ext cx="2560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A"/>
                </a:solidFill>
                <a:latin typeface="Calibri"/>
              </a:rPr>
              <a:t>Margin 6.9%; Tables −$64K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425696"/>
            <a:ext cx="11064240" cy="804672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" y="4553712"/>
            <a:ext cx="548640" cy="54864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553712"/>
            <a:ext cx="5486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4425696"/>
            <a:ext cx="566928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B2A3A"/>
                </a:solidFill>
                <a:latin typeface="Calibri"/>
              </a:rPr>
              <a:t>Grow Technology &amp; Office Supplies in high-margin regions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425696"/>
            <a:ext cx="201168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Higher margin mix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4425696"/>
            <a:ext cx="2560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A"/>
                </a:solidFill>
                <a:latin typeface="Calibri"/>
              </a:rPr>
              <a:t>81% of profit; 12–27% regional margins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321808"/>
            <a:ext cx="11064240" cy="804672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080" y="5449824"/>
            <a:ext cx="548640" cy="54864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449824"/>
            <a:ext cx="5486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0160" y="5321808"/>
            <a:ext cx="566928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B2A3A"/>
                </a:solidFill>
                <a:latin typeface="Calibri"/>
              </a:rPr>
              <a:t>Plan Sep–Dec stock/promotions; add margin &amp; discount KPIs to scorecard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5321808"/>
            <a:ext cx="201168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Stable margin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5321808"/>
            <a:ext cx="2560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A"/>
                </a:solidFill>
                <a:latin typeface="Calibri"/>
              </a:rPr>
              <a:t>45% of sales in Sep–Dec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A3A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7A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7A"/>
                </a:solidFill>
                <a:latin typeface="Calibri"/>
              </a:rPr>
              <a:t>Global Superstore · Business Insight Review · Exp.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97280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E79"/>
                </a:solidFill>
                <a:latin typeface="Calibri"/>
              </a:rPr>
              <a:t>Growth is healthy; profitability is not keeping pace – and discounts are the cause.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6583680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1B2A3A"/>
                </a:solidFill>
                <a:latin typeface="Calibri"/>
              </a:rPr>
              <a:t>• Sales doubled, but margin is flat at ~11.7%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B2A3A"/>
                </a:solidFill>
                <a:latin typeface="Calibri"/>
              </a:rPr>
              <a:t>• Discounts above 20% cost $815K of profit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B2A3A"/>
                </a:solidFill>
                <a:latin typeface="Calibri"/>
              </a:rPr>
              <a:t>• Three regions and the Tables line lose money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B2A3A"/>
                </a:solidFill>
                <a:latin typeface="Calibri"/>
              </a:rPr>
              <a:t>• Technology and Office Supplies are the growth engine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1B2A3A"/>
                </a:solidFill>
                <a:latin typeface="Calibri"/>
              </a:rPr>
              <a:t>• Discipline on discounts, regions and Furniture can add ≈ $0.4–1.0M profit a year without extra sales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2834640"/>
            <a:ext cx="3931920" cy="301752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2926080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Calibri"/>
              </a:rPr>
              <a:t>KPIs to monitor monthly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3383280"/>
            <a:ext cx="3566160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B2A3A"/>
                </a:solidFill>
                <a:latin typeface="Calibri"/>
              </a:rPr>
              <a:t>• Profit margin %  (11.6% → 14%)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B2A3A"/>
                </a:solidFill>
                <a:latin typeface="Calibri"/>
              </a:rPr>
              <a:t>• Average discount %  (14% → ≤12%)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B2A3A"/>
                </a:solidFill>
                <a:latin typeface="Calibri"/>
              </a:rPr>
              <a:t>• Loss-making sales lines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B2A3A"/>
                </a:solidFill>
                <a:latin typeface="Calibri"/>
              </a:rPr>
              <a:t>• Profit by region vs target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